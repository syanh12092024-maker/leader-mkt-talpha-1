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be_coding_hero_1774855313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Talpha Broadcast: Vibe Coding 2026</a:t>
            </a:r>
          </a:p>
          <a:p>
            <a:pPr algn="ctr">
              <a:defRPr sz="2800">
                <a:solidFill>
                  <a:srgbClr val="C8C8C8"/>
                </a:solidFill>
              </a:defRPr>
            </a:pPr>
            <a:r>
              <a:t>Siêu Tốc - Tự Động - Đột Phá Doanh Thu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Tại sao chúng ta cần Talpha Broadcast?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400"/>
            </a:pPr>
            <a:r>
              <a:t>Nghẽn cổ chai vận hành</a:t>
            </a:r>
          </a:p>
          <a:p>
            <a:pPr>
              <a:spcAft>
                <a:spcPts val="1000"/>
              </a:spcAft>
              <a:defRPr sz="1800"/>
            </a:pPr>
            <a:r>
              <a:t>  → 1 nhân sự tốn 4h/ngày để gửi 1000 tin nhắn thủ công.</a:t>
            </a:r>
          </a:p>
          <a:p>
            <a:pPr>
              <a:defRPr b="1" sz="2400"/>
            </a:pPr>
            <a:r>
              <a:t>Giới hạn Facebook 24h</a:t>
            </a:r>
          </a:p>
          <a:p>
            <a:pPr>
              <a:spcAft>
                <a:spcPts val="1000"/>
              </a:spcAft>
              <a:defRPr sz="1800"/>
            </a:pPr>
            <a:r>
              <a:t>  → Bỏ lỡ 70% khách hàng cũ vì không thể gửi tin miễn phí.</a:t>
            </a:r>
          </a:p>
          <a:p>
            <a:pPr>
              <a:defRPr b="1" sz="2400"/>
            </a:pPr>
            <a:r>
              <a:t>Tỷ lệ phản hồi thấp</a:t>
            </a:r>
          </a:p>
          <a:p>
            <a:pPr>
              <a:spcAft>
                <a:spcPts val="1000"/>
              </a:spcAft>
              <a:defRPr sz="1800"/>
            </a:pPr>
            <a:r>
              <a:t>  → Tin nhắn thiếu cá nhân hóa và hình ảnh sinh động.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Luồng vận hành AI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500"/>
              </a:spcAft>
              <a:defRPr sz="2000"/>
            </a:pPr>
            <a:r>
              <a:t>1. Quét dữ liệu từ Pancake CRM/POS.</a:t>
            </a:r>
          </a:p>
          <a:p>
            <a:pPr>
              <a:spcAft>
                <a:spcPts val="1500"/>
              </a:spcAft>
              <a:defRPr sz="2000"/>
            </a:pPr>
            <a:r>
              <a:t>2. AI tự động phân loại khách hàng &amp; gợi ý kịch bản.</a:t>
            </a:r>
          </a:p>
          <a:p>
            <a:pPr>
              <a:spcAft>
                <a:spcPts val="1500"/>
              </a:spcAft>
              <a:defRPr sz="2000"/>
            </a:pPr>
            <a:r>
              <a:t>3. Tự động hóa 'HUMAN_AGENT' tag để gửi tin sau 24h.</a:t>
            </a:r>
          </a:p>
          <a:p>
            <a:pPr>
              <a:spcAft>
                <a:spcPts val="1500"/>
              </a:spcAft>
              <a:defRPr sz="2000"/>
            </a:pPr>
            <a:r>
              <a:t>4. Tự động xử lý hình ảnh qua Cloud Engine.</a:t>
            </a:r>
          </a:p>
        </p:txBody>
      </p:sp>
      <p:pic>
        <p:nvPicPr>
          <p:cNvPr id="4" name="Picture 3" descr="automation_flow_infographic_17748553314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Giao diện quản lý tập trung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600">
                <a:solidFill>
                  <a:srgbClr val="BDC3C7"/>
                </a:solidFill>
              </a:defRPr>
            </a:pPr>
            <a:r>
              <a:t>[HÌNH ẢNH DASHBOARD TRỰC QUAN]</a:t>
            </a:r>
          </a:p>
          <a:p>
            <a:pPr algn="l">
              <a:defRPr sz="2200"/>
            </a:pPr>
            <a:r>
              <a:t>• Lọc khách hàng theo Shop/Page/Trạng thái mua hàng.</a:t>
            </a:r>
            <a:br/>
            <a:r>
              <a:t>• Theo dõi tiến độ gửi tin REAL-TIME.</a:t>
            </a:r>
            <a:br/>
            <a:r>
              <a:t>• Báo cáo lỗi chi tiết (#10, #551, chặn lặp).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Kỹ thuật thượng thừa (Vibe Coding)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 sz="2200">
                <a:solidFill>
                  <a:srgbClr val="2980B9"/>
                </a:solidFill>
              </a:defRPr>
            </a:pPr>
            <a:r>
              <a:t>Smart Dedup</a:t>
            </a:r>
          </a:p>
          <a:p>
            <a:pPr>
              <a:spcAft>
                <a:spcPts val="1000"/>
              </a:spcAft>
              <a:defRPr sz="1800"/>
            </a:pPr>
            <a:r>
              <a:t>Cơ chế chống gửi lặp (5-min safety window) bảo vệ tài khoản.</a:t>
            </a:r>
          </a:p>
          <a:p>
            <a:pPr>
              <a:defRPr b="1" sz="2200">
                <a:solidFill>
                  <a:srgbClr val="2980B9"/>
                </a:solidFill>
              </a:defRPr>
            </a:pPr>
            <a:r>
              <a:t>Hybrid API</a:t>
            </a:r>
          </a:p>
          <a:p>
            <a:pPr>
              <a:spcAft>
                <a:spcPts val="1000"/>
              </a:spcAft>
              <a:defRPr sz="1800"/>
            </a:pPr>
            <a:r>
              <a:t>Tự động đổi từ Pancake sang FB Graph API khi gặp lỗi giới hạn.</a:t>
            </a:r>
          </a:p>
          <a:p>
            <a:pPr>
              <a:defRPr b="1" sz="2200">
                <a:solidFill>
                  <a:srgbClr val="2980B9"/>
                </a:solidFill>
              </a:defRPr>
            </a:pPr>
            <a:r>
              <a:t>Image CDN</a:t>
            </a:r>
          </a:p>
          <a:p>
            <a:pPr>
              <a:spcAft>
                <a:spcPts val="1000"/>
              </a:spcAft>
              <a:defRPr sz="1800"/>
            </a:pPr>
            <a:r>
              <a:t>Tự động CDN- hóa hình ảnh để đảm bảo tốc độ gửi tin nhanh nhất.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Giá trị mang lại cho Level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800" b="1">
                <a:solidFill>
                  <a:srgbClr val="8E44AD"/>
                </a:solidFill>
              </a:defRPr>
            </a:pPr>
            <a:r>
              <a:t>900%</a:t>
            </a:r>
          </a:p>
          <a:p>
            <a:pPr algn="ctr">
              <a:defRPr sz="1800"/>
            </a:pPr>
            <a:r>
              <a:t>Tăng hiệu suất vận hành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28600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800" b="1">
                <a:solidFill>
                  <a:srgbClr val="8E44AD"/>
                </a:solidFill>
              </a:defRPr>
            </a:pPr>
            <a:r>
              <a:t>15%</a:t>
            </a:r>
          </a:p>
          <a:p>
            <a:pPr algn="ctr">
              <a:defRPr sz="1800"/>
            </a:pPr>
            <a:r>
              <a:t>Tăng tỷ lệ chuyển đổi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8600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800" b="1">
                <a:solidFill>
                  <a:srgbClr val="8E44AD"/>
                </a:solidFill>
              </a:defRPr>
            </a:pPr>
            <a:r>
              <a:t>0 VNĐ</a:t>
            </a:r>
          </a:p>
          <a:p>
            <a:pPr algn="ctr">
              <a:defRPr sz="1800"/>
            </a:pPr>
            <a:r>
              <a:t>Chi phí hạ tầng (Native Cloud)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Vibe Coding: Idea to Impact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Level Up - Pioneers in AI Automation</a:t>
            </a:r>
          </a:p>
          <a:p>
            <a:r>
              <a:t>Cảm ơn hội đồng giám khảo và các đồng nghiệp!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